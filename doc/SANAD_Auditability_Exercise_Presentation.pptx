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3A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  <a:latin typeface="Aptos Display"/>
              </a:defRPr>
            </a:pPr>
            <a:r>
              <a:t>SANAD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B2BECD"/>
                </a:solidFill>
                <a:latin typeface="Aptos"/>
              </a:defRPr>
            </a:pPr>
            <a:r>
              <a:t>Auditability Exercise — Structured Medical-Record Audit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D3AA4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7132320" cy="8229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2500" b="1">
                <a:solidFill>
                  <a:srgbClr val="F5F7FA"/>
                </a:solidFill>
                <a:latin typeface="Aptos"/>
              </a:defRPr>
            </a:pPr>
            <a:r>
              <a:t>Making medical-record access and updates traceable, reviewable, and evidence-driven.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23160"/>
            <a:ext cx="6766560" cy="11430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600" b="0">
                <a:solidFill>
                  <a:srgbClr val="B2BECD"/>
                </a:solidFill>
                <a:latin typeface="Aptos"/>
              </a:defRPr>
            </a:pPr>
            <a:r>
              <a:t>This implementation adds structured audit events around medical-record READ and UPDATE operations. Each event preserves the actor, action, affected record, patient relationship, consent status, outcome, and timestamp.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508760"/>
            <a:ext cx="3429000" cy="1143000"/>
          </a:xfrm>
          <a:prstGeom prst="roundRect">
            <a:avLst/>
          </a:prstGeom>
          <a:solidFill>
            <a:srgbClr val="12233A"/>
          </a:solidFill>
          <a:ln w="12700">
            <a:solidFill>
              <a:srgbClr val="26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01000" y="1508760"/>
            <a:ext cx="50292" cy="1143000"/>
          </a:xfrm>
          <a:prstGeom prst="rect">
            <a:avLst/>
          </a:prstGeom>
          <a:solidFill>
            <a:srgbClr val="D3A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2168" y="1645919"/>
            <a:ext cx="30632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50" b="1">
                <a:solidFill>
                  <a:srgbClr val="D3AA4C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2168" y="2039112"/>
            <a:ext cx="306324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Every sensitive record operation leaves a structured, reviewable trace.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880360"/>
            <a:ext cx="3429000" cy="1143000"/>
          </a:xfrm>
          <a:prstGeom prst="roundRect">
            <a:avLst/>
          </a:prstGeom>
          <a:solidFill>
            <a:srgbClr val="12233A"/>
          </a:solidFill>
          <a:ln w="12700">
            <a:solidFill>
              <a:srgbClr val="26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2880360"/>
            <a:ext cx="50292" cy="1143000"/>
          </a:xfrm>
          <a:prstGeom prst="rect">
            <a:avLst/>
          </a:prstGeom>
          <a:solidFill>
            <a:srgbClr val="54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3017520"/>
            <a:ext cx="30632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50" b="1">
                <a:solidFill>
                  <a:srgbClr val="5491DC"/>
                </a:solidFill>
                <a:latin typeface="Aptos"/>
              </a:defRPr>
            </a:pPr>
            <a:r>
              <a:t>KEY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3410712"/>
            <a:ext cx="306324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Actor • Relationship • Consent • Outcome • Timestamp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4251960"/>
            <a:ext cx="3429000" cy="1143000"/>
          </a:xfrm>
          <a:prstGeom prst="roundRect">
            <a:avLst/>
          </a:prstGeom>
          <a:solidFill>
            <a:srgbClr val="12233A"/>
          </a:solidFill>
          <a:ln w="12700">
            <a:solidFill>
              <a:srgbClr val="26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4251960"/>
            <a:ext cx="50292" cy="1143000"/>
          </a:xfrm>
          <a:prstGeom prst="rect">
            <a:avLst/>
          </a:prstGeom>
          <a:solidFill>
            <a:srgbClr val="52B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8" y="4389120"/>
            <a:ext cx="30632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50" b="1">
                <a:solidFill>
                  <a:srgbClr val="52B47E"/>
                </a:solidFill>
                <a:latin typeface="Aptos"/>
              </a:defRPr>
            </a:pPr>
            <a:r>
              <a:t>DELIVERABLES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4782312"/>
            <a:ext cx="306324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Schema • API behavior • Sample events • Automated tests •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68580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100" b="0">
                <a:solidFill>
                  <a:srgbClr val="B2BECD"/>
                </a:solidFill>
                <a:latin typeface="Aptos"/>
              </a:defRPr>
            </a:pPr>
            <a:r>
              <a:t>Focused scope • Node.js • Express.js • MongoDB • Mongoose • Jest • Supertest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2B3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6601968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2BECD"/>
                </a:solidFill>
                <a:latin typeface="Aptos"/>
              </a:defRPr>
            </a:pPr>
            <a:r>
              <a:t>SANAD Healthcare • Auditability Exercise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3A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  <a:latin typeface="Aptos Display"/>
              </a:defRPr>
            </a:pPr>
            <a:r>
              <a:t>Objective, Scope &amp; 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B2BECD"/>
                </a:solidFill>
                <a:latin typeface="Aptos"/>
              </a:defRPr>
            </a:pPr>
            <a:r>
              <a:t>A deliberately limited implementation focused on auditability rather than a full authorization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D3AA4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611880" cy="4480560"/>
          </a:xfrm>
          <a:prstGeom prst="roundRect">
            <a:avLst/>
          </a:prstGeom>
          <a:solidFill>
            <a:srgbClr val="12233A"/>
          </a:solidFill>
          <a:ln w="12700">
            <a:solidFill>
              <a:srgbClr val="26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50292" cy="4480560"/>
          </a:xfrm>
          <a:prstGeom prst="rect">
            <a:avLst/>
          </a:prstGeom>
          <a:solidFill>
            <a:srgbClr val="D3A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54480"/>
            <a:ext cx="32461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50" b="1">
                <a:solidFill>
                  <a:srgbClr val="D3AA4C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47672"/>
            <a:ext cx="3246120" cy="3840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320" b="0">
                <a:solidFill>
                  <a:srgbClr val="F5F7FA"/>
                </a:solidFill>
                <a:latin typeface="Aptos"/>
              </a:defRPr>
            </a:pPr>
            <a:r>
              <a:t>Add structured audit events to medical-record operations while preserving enough context to reconstruct what happened.</a:t>
            </a:r>
            <a:br/>
            <a:br/>
            <a:r>
              <a:t>The audit trail answers: Who acted? What did they do? Which record and patient were involved? What was the relationship? Was consent available? Did the operation succeed or get denied? When did it happen?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611880" cy="4480560"/>
          </a:xfrm>
          <a:prstGeom prst="roundRect">
            <a:avLst/>
          </a:prstGeom>
          <a:solidFill>
            <a:srgbClr val="12233A"/>
          </a:solidFill>
          <a:ln w="12700">
            <a:solidFill>
              <a:srgbClr val="26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50292" cy="4480560"/>
          </a:xfrm>
          <a:prstGeom prst="rect">
            <a:avLst/>
          </a:prstGeom>
          <a:solidFill>
            <a:srgbClr val="54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554480"/>
            <a:ext cx="32461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50" b="1">
                <a:solidFill>
                  <a:srgbClr val="5491DC"/>
                </a:solidFill>
                <a:latin typeface="Aptos"/>
              </a:defRPr>
            </a:pPr>
            <a:r>
              <a:t>IN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947672"/>
            <a:ext cx="3246120" cy="3840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320" b="0">
                <a:solidFill>
                  <a:srgbClr val="F5F7FA"/>
                </a:solidFill>
                <a:latin typeface="Aptos"/>
              </a:defRPr>
            </a:pPr>
            <a:r>
              <a:t>• Medical-record READ operations</a:t>
            </a:r>
            <a:br/>
            <a:r>
              <a:t>• Medical-record UPDATE operations</a:t>
            </a:r>
            <a:br/>
            <a:r>
              <a:t>• Structured audit event persistence</a:t>
            </a:r>
            <a:br/>
            <a:r>
              <a:t>• Patient relationship context</a:t>
            </a:r>
            <a:br/>
            <a:r>
              <a:t>• Consent context</a:t>
            </a:r>
            <a:br/>
            <a:r>
              <a:t>• SUCCESS and DENIED outcomes</a:t>
            </a:r>
            <a:br/>
            <a:r>
              <a:t>• Audit-log retrieval endpoint</a:t>
            </a:r>
            <a:br/>
            <a:r>
              <a:t>• Automated tests with Jest + Supertest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17320"/>
            <a:ext cx="3520440" cy="4480560"/>
          </a:xfrm>
          <a:prstGeom prst="roundRect">
            <a:avLst/>
          </a:prstGeom>
          <a:solidFill>
            <a:srgbClr val="12233A"/>
          </a:solidFill>
          <a:ln w="12700">
            <a:solidFill>
              <a:srgbClr val="26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417320"/>
            <a:ext cx="50292" cy="4480560"/>
          </a:xfrm>
          <a:prstGeom prst="rect">
            <a:avLst/>
          </a:prstGeom>
          <a:solidFill>
            <a:srgbClr val="DA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554480"/>
            <a:ext cx="31546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50" b="1">
                <a:solidFill>
                  <a:srgbClr val="DA5B5B"/>
                </a:solidFill>
                <a:latin typeface="Aptos"/>
              </a:defRPr>
            </a:pPr>
            <a:r>
              <a:t>OUT OF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947672"/>
            <a:ext cx="3154680" cy="3840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320" b="0">
                <a:solidFill>
                  <a:srgbClr val="F5F7FA"/>
                </a:solidFill>
                <a:latin typeface="Aptos"/>
              </a:defRPr>
            </a:pPr>
            <a:r>
              <a:t>• Full healthcare authorization system</a:t>
            </a:r>
            <a:br/>
            <a:r>
              <a:t>• Advanced audit analytics</a:t>
            </a:r>
            <a:br/>
            <a:r>
              <a:t>• Admin dashboard</a:t>
            </a:r>
            <a:br/>
            <a:r>
              <a:t>• Audit deletion/history management</a:t>
            </a:r>
            <a:br/>
            <a:r>
              <a:t>• Production-grade audit storage architecture</a:t>
            </a:r>
            <a:br/>
            <a:br/>
            <a:r>
              <a:t>The implementation stays intentionally small, reviewable, and aligned with the exercise requirements.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2B3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6601968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2BECD"/>
                </a:solidFill>
                <a:latin typeface="Aptos"/>
              </a:defRPr>
            </a:pPr>
            <a:r>
              <a:t>SANAD Healthcare • Auditability Exercise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3A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  <a:latin typeface="Aptos Display"/>
              </a:defRPr>
            </a:pPr>
            <a:r>
              <a:t>Audit Event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B2BECD"/>
                </a:solidFill>
                <a:latin typeface="Aptos"/>
              </a:defRPr>
            </a:pPr>
            <a:r>
              <a:t>A structured event captures the operational context required for traceability.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D3AA4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394960" cy="4526280"/>
          </a:xfrm>
          <a:prstGeom prst="roundRect">
            <a:avLst/>
          </a:prstGeom>
          <a:solidFill>
            <a:srgbClr val="12233A"/>
          </a:solidFill>
          <a:ln w="12700">
            <a:solidFill>
              <a:srgbClr val="26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50292" cy="4526280"/>
          </a:xfrm>
          <a:prstGeom prst="rect">
            <a:avLst/>
          </a:prstGeom>
          <a:solidFill>
            <a:srgbClr val="D3A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54480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50" b="1">
                <a:solidFill>
                  <a:srgbClr val="D3AA4C"/>
                </a:solidFill>
                <a:latin typeface="Aptos"/>
              </a:defRPr>
            </a:pPr>
            <a:r>
              <a:t>EVENT FIELDS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47672"/>
            <a:ext cx="5029200" cy="3886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actor — user who performed the operation</a:t>
            </a:r>
            <a:br/>
            <a:r>
              <a:t>action — READ or UPDATE</a:t>
            </a:r>
            <a:br/>
            <a:r>
              <a:t>resource — MEDICAL_RECORD</a:t>
            </a:r>
            <a:br/>
            <a:r>
              <a:t>recordId — affected medical-record identifier</a:t>
            </a:r>
            <a:br/>
            <a:r>
              <a:t>patientId — patient associated with the record</a:t>
            </a:r>
            <a:br/>
            <a:r>
              <a:t>relationship — SELF or DOCTOR</a:t>
            </a:r>
            <a:br/>
            <a:r>
              <a:t>consent — patient consent status at the time</a:t>
            </a:r>
            <a:br/>
            <a:r>
              <a:t>outcome — SUCCESS, DENIED, or FAILED</a:t>
            </a:r>
            <a:br/>
            <a:r>
              <a:t>timestamp — time of the audit event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394960" cy="2057400"/>
          </a:xfrm>
          <a:prstGeom prst="roundRect">
            <a:avLst/>
          </a:prstGeom>
          <a:solidFill>
            <a:srgbClr val="12233A"/>
          </a:solidFill>
          <a:ln w="12700">
            <a:solidFill>
              <a:srgbClr val="26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50292" cy="2057400"/>
          </a:xfrm>
          <a:prstGeom prst="rect">
            <a:avLst/>
          </a:prstGeom>
          <a:solidFill>
            <a:srgbClr val="54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554480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50" b="1">
                <a:solidFill>
                  <a:srgbClr val="5491DC"/>
                </a:solidFill>
                <a:latin typeface="Aptos"/>
              </a:defRPr>
            </a:pPr>
            <a:r>
              <a:t>SUPPORTED VALUES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47672"/>
            <a:ext cx="5029200" cy="1417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Actions: READ, UPDATE</a:t>
            </a:r>
            <a:br/>
            <a:r>
              <a:t>Resource: MEDICAL_RECORD</a:t>
            </a:r>
            <a:br/>
            <a:r>
              <a:t>Relationships: SELF, DOCTOR</a:t>
            </a:r>
            <a:br/>
            <a:r>
              <a:t>Outcomes: SUCCESS, DENIED, FAILED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703320"/>
            <a:ext cx="5394960" cy="2240280"/>
          </a:xfrm>
          <a:prstGeom prst="roundRect">
            <a:avLst/>
          </a:prstGeom>
          <a:solidFill>
            <a:srgbClr val="12233A"/>
          </a:solidFill>
          <a:ln w="12700">
            <a:solidFill>
              <a:srgbClr val="26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703320"/>
            <a:ext cx="50292" cy="2240280"/>
          </a:xfrm>
          <a:prstGeom prst="rect">
            <a:avLst/>
          </a:prstGeom>
          <a:solidFill>
            <a:srgbClr val="52B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3840480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50" b="1">
                <a:solidFill>
                  <a:srgbClr val="52B47E"/>
                </a:solidFill>
                <a:latin typeface="Aptos"/>
              </a:defRPr>
            </a:pPr>
            <a:r>
              <a:t>WHY THIS STRUCTURE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233672"/>
            <a:ext cx="5029200" cy="1600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350" b="0">
                <a:solidFill>
                  <a:srgbClr val="F5F7FA"/>
                </a:solidFill>
                <a:latin typeface="Aptos"/>
              </a:defRPr>
            </a:pPr>
            <a:r>
              <a:t>The event is intentionally structured rather than a free-form message. This makes audit records easier to query, verify, test, and review. A reviewer can distinguish successful access from denied access and can see the relationship and consent context without reconstructing it from application logs.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2B3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6601968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2BECD"/>
                </a:solidFill>
                <a:latin typeface="Aptos"/>
              </a:defRPr>
            </a:pPr>
            <a:r>
              <a:t>SANAD Healthcare • Auditability Exercise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3A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  <a:latin typeface="Aptos Display"/>
              </a:defRPr>
            </a:pPr>
            <a:r>
              <a:t>Access &amp; Consent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B2BECD"/>
                </a:solidFill>
                <a:latin typeface="Aptos"/>
              </a:defRPr>
            </a:pPr>
            <a:r>
              <a:t>Authorization context is captured together with the audit outcome.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D3AA4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394960" cy="4526280"/>
          </a:xfrm>
          <a:prstGeom prst="roundRect">
            <a:avLst/>
          </a:prstGeom>
          <a:solidFill>
            <a:srgbClr val="12233A"/>
          </a:solidFill>
          <a:ln w="12700">
            <a:solidFill>
              <a:srgbClr val="26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50292" cy="4526280"/>
          </a:xfrm>
          <a:prstGeom prst="rect">
            <a:avLst/>
          </a:prstGeom>
          <a:solidFill>
            <a:srgbClr val="D3A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54480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50" b="1">
                <a:solidFill>
                  <a:srgbClr val="D3AA4C"/>
                </a:solidFill>
                <a:latin typeface="Aptos"/>
              </a:defRPr>
            </a:pPr>
            <a:r>
              <a:t>PATIENT — SELF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47672"/>
            <a:ext cx="5029200" cy="3886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A patient can access and update their own medical record.</a:t>
            </a:r>
            <a:br/>
            <a:br/>
            <a:r>
              <a:t>The audit event records:</a:t>
            </a:r>
            <a:br/>
            <a:r>
              <a:t>relationship = SELF</a:t>
            </a:r>
            <a:br/>
            <a:br/>
            <a:r>
              <a:t>The consent value is still preserved as part of the audit context. This means the event remains informative even when the actor is the patient associated with the record.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394960" cy="2011680"/>
          </a:xfrm>
          <a:prstGeom prst="roundRect">
            <a:avLst/>
          </a:prstGeom>
          <a:solidFill>
            <a:srgbClr val="12233A"/>
          </a:solidFill>
          <a:ln w="12700">
            <a:solidFill>
              <a:srgbClr val="26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50292" cy="2011680"/>
          </a:xfrm>
          <a:prstGeom prst="rect">
            <a:avLst/>
          </a:prstGeom>
          <a:solidFill>
            <a:srgbClr val="52B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554480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50" b="1">
                <a:solidFill>
                  <a:srgbClr val="52B47E"/>
                </a:solidFill>
                <a:latin typeface="Aptos"/>
              </a:defRPr>
            </a:pPr>
            <a:r>
              <a:t>DOCTOR — CONSENT AVAILABLE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47672"/>
            <a:ext cx="5029200" cy="1371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When consentGiven = true, a doctor can access or update the patient's medical record.</a:t>
            </a:r>
            <a:br/>
            <a:br/>
            <a:r>
              <a:t>relationship = DOCTOR</a:t>
            </a:r>
            <a:br/>
            <a:r>
              <a:t>consent = true</a:t>
            </a:r>
            <a:br/>
            <a:r>
              <a:t>outcome = SUCCESS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657600"/>
            <a:ext cx="5394960" cy="2286000"/>
          </a:xfrm>
          <a:prstGeom prst="roundRect">
            <a:avLst/>
          </a:prstGeom>
          <a:solidFill>
            <a:srgbClr val="12233A"/>
          </a:solidFill>
          <a:ln w="12700">
            <a:solidFill>
              <a:srgbClr val="26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657600"/>
            <a:ext cx="50292" cy="2286000"/>
          </a:xfrm>
          <a:prstGeom prst="rect">
            <a:avLst/>
          </a:prstGeom>
          <a:solidFill>
            <a:srgbClr val="DA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3794760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50" b="1">
                <a:solidFill>
                  <a:srgbClr val="DA5B5B"/>
                </a:solidFill>
                <a:latin typeface="Aptos"/>
              </a:defRPr>
            </a:pPr>
            <a:r>
              <a:t>DOCTOR — NO CONSENT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187952"/>
            <a:ext cx="5029200" cy="1645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When consentGiven = false, the doctor operation is denied.</a:t>
            </a:r>
            <a:br/>
            <a:br/>
            <a:r>
              <a:t>relationship = DOCTOR</a:t>
            </a:r>
            <a:br/>
            <a:r>
              <a:t>consent = false</a:t>
            </a:r>
            <a:br/>
            <a:r>
              <a:t>outcome = DENIED</a:t>
            </a:r>
            <a:br/>
            <a:br/>
            <a:r>
              <a:t>The API returns HTTP 403 while the denial is also preserved as a structured audit event.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2B3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6601968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2BECD"/>
                </a:solidFill>
                <a:latin typeface="Aptos"/>
              </a:defRPr>
            </a:pPr>
            <a:r>
              <a:t>SANAD Healthcare • Auditability Exercise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3A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  <a:latin typeface="Aptos Display"/>
              </a:defRPr>
            </a:pPr>
            <a:r>
              <a:t>API &amp; Auditability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B2BECD"/>
                </a:solidFill>
                <a:latin typeface="Aptos"/>
              </a:defRPr>
            </a:pPr>
            <a:r>
              <a:t>The same access decision produces both an API response and a traceable audit event.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D3AA4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520440" cy="4526280"/>
          </a:xfrm>
          <a:prstGeom prst="roundRect">
            <a:avLst/>
          </a:prstGeom>
          <a:solidFill>
            <a:srgbClr val="12233A"/>
          </a:solidFill>
          <a:ln w="12700">
            <a:solidFill>
              <a:srgbClr val="26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50292" cy="4526280"/>
          </a:xfrm>
          <a:prstGeom prst="rect">
            <a:avLst/>
          </a:prstGeom>
          <a:solidFill>
            <a:srgbClr val="54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54480"/>
            <a:ext cx="31546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50" b="1">
                <a:solidFill>
                  <a:srgbClr val="5491DC"/>
                </a:solidFill>
                <a:latin typeface="Aptos"/>
              </a:defRPr>
            </a:pPr>
            <a:r>
              <a:t>MEDICAL RECORD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47672"/>
            <a:ext cx="3154680" cy="3886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340" b="0">
                <a:solidFill>
                  <a:srgbClr val="F5F7FA"/>
                </a:solidFill>
                <a:latin typeface="Aptos"/>
              </a:defRPr>
            </a:pPr>
            <a:r>
              <a:t>POST /api/v1/medical-records</a:t>
            </a:r>
            <a:br/>
            <a:r>
              <a:t>Creates a medical record.</a:t>
            </a:r>
            <a:br/>
            <a:br/>
            <a:r>
              <a:t>GET /api/v1/medical-records/:id</a:t>
            </a:r>
            <a:br/>
            <a:r>
              <a:t>Reads a medical record and generates an audit event.</a:t>
            </a:r>
            <a:br/>
            <a:br/>
            <a:r>
              <a:t>PATCH /api/v1/medical-records/:id</a:t>
            </a:r>
            <a:br/>
            <a:r>
              <a:t>Updates a medical record and generates an audit event.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520440" cy="4526280"/>
          </a:xfrm>
          <a:prstGeom prst="roundRect">
            <a:avLst/>
          </a:prstGeom>
          <a:solidFill>
            <a:srgbClr val="12233A"/>
          </a:solidFill>
          <a:ln w="12700">
            <a:solidFill>
              <a:srgbClr val="26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50292" cy="4526280"/>
          </a:xfrm>
          <a:prstGeom prst="rect">
            <a:avLst/>
          </a:prstGeom>
          <a:solidFill>
            <a:srgbClr val="D3A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554480"/>
            <a:ext cx="31546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50" b="1">
                <a:solidFill>
                  <a:srgbClr val="D3AA4C"/>
                </a:solidFill>
                <a:latin typeface="Aptos"/>
              </a:defRPr>
            </a:pPr>
            <a:r>
              <a:t>AUDIT LOG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947672"/>
            <a:ext cx="3154680" cy="3886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340" b="0">
                <a:solidFill>
                  <a:srgbClr val="F5F7FA"/>
                </a:solidFill>
                <a:latin typeface="Aptos"/>
              </a:defRPr>
            </a:pPr>
            <a:r>
              <a:t>GET /api/v1/audit-logs</a:t>
            </a:r>
            <a:br/>
            <a:br/>
            <a:r>
              <a:t>Returns generated audit events for review.</a:t>
            </a:r>
            <a:br/>
            <a:br/>
            <a:r>
              <a:t>The returned data can expose the actor, patient, relationship, action, consent, resource, outcome, and timestamp.</a:t>
            </a:r>
            <a:br/>
            <a:br/>
            <a:r>
              <a:t>This provides a simple evidence endpoint for the exercise.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17320"/>
            <a:ext cx="3520440" cy="4526280"/>
          </a:xfrm>
          <a:prstGeom prst="roundRect">
            <a:avLst/>
          </a:prstGeom>
          <a:solidFill>
            <a:srgbClr val="12233A"/>
          </a:solidFill>
          <a:ln w="12700">
            <a:solidFill>
              <a:srgbClr val="26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417320"/>
            <a:ext cx="50292" cy="4526280"/>
          </a:xfrm>
          <a:prstGeom prst="rect">
            <a:avLst/>
          </a:prstGeom>
          <a:solidFill>
            <a:srgbClr val="52B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554480"/>
            <a:ext cx="31546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50" b="1">
                <a:solidFill>
                  <a:srgbClr val="52B47E"/>
                </a:solidFill>
                <a:latin typeface="Aptos"/>
              </a:defRPr>
            </a:pPr>
            <a:r>
              <a:t>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947672"/>
            <a:ext cx="3154680" cy="3886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260" b="0">
                <a:solidFill>
                  <a:srgbClr val="F5F7FA"/>
                </a:solidFill>
                <a:latin typeface="Aptos"/>
              </a:defRPr>
            </a:pPr>
            <a:r>
              <a:t>Authenticated User</a:t>
            </a:r>
            <a:br/>
            <a:r>
              <a:t>↓</a:t>
            </a:r>
            <a:br/>
            <a:r>
              <a:t>Medical Record Request</a:t>
            </a:r>
            <a:br/>
            <a:r>
              <a:t>↓</a:t>
            </a:r>
            <a:br/>
            <a:r>
              <a:t>Identify Actor</a:t>
            </a:r>
            <a:br/>
            <a:r>
              <a:t>↓</a:t>
            </a:r>
            <a:br/>
            <a:r>
              <a:t>Determine Relationship</a:t>
            </a:r>
            <a:br/>
            <a:r>
              <a:t>↓</a:t>
            </a:r>
            <a:br/>
            <a:r>
              <a:t>Check Consent</a:t>
            </a:r>
            <a:br/>
            <a:r>
              <a:t>↓</a:t>
            </a:r>
            <a:br/>
            <a:r>
              <a:t>Allowed → Operation → SUCCESS</a:t>
            </a:r>
            <a:br/>
            <a:r>
              <a:t>Denied → HTTP 403 → DENIED</a:t>
            </a:r>
            <a:br/>
            <a:r>
              <a:t>↓</a:t>
            </a:r>
            <a:br/>
            <a:r>
              <a:t>Create Structured Audit Event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2B3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6601968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2BECD"/>
                </a:solidFill>
                <a:latin typeface="Aptos"/>
              </a:defRPr>
            </a:pPr>
            <a:r>
              <a:t>SANAD Healthcare • Auditability Exercise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3A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  <a:latin typeface="Aptos Display"/>
              </a:defRPr>
            </a:pPr>
            <a:r>
              <a:t>Sample Audit 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B2BECD"/>
                </a:solidFill>
                <a:latin typeface="Aptos"/>
              </a:defRPr>
            </a:pPr>
            <a:r>
              <a:t>Representative events demonstrate both successful and denied access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D3AA4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394960" cy="2011680"/>
          </a:xfrm>
          <a:prstGeom prst="roundRect">
            <a:avLst/>
          </a:prstGeom>
          <a:solidFill>
            <a:srgbClr val="12233A"/>
          </a:solidFill>
          <a:ln w="12700">
            <a:solidFill>
              <a:srgbClr val="26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50292" cy="2011680"/>
          </a:xfrm>
          <a:prstGeom prst="rect">
            <a:avLst/>
          </a:prstGeom>
          <a:solidFill>
            <a:srgbClr val="52B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463039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50" b="1">
                <a:solidFill>
                  <a:srgbClr val="52B47E"/>
                </a:solidFill>
                <a:latin typeface="Aptos"/>
              </a:defRPr>
            </a:pPr>
            <a:r>
              <a:t>01 — DOCTOR READ WITH CONSENT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856231"/>
            <a:ext cx="5029200" cy="1371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350" b="0">
                <a:solidFill>
                  <a:srgbClr val="F5F7FA"/>
                </a:solidFill>
                <a:latin typeface="Aptos"/>
              </a:defRPr>
            </a:pPr>
            <a:r>
              <a:t>{</a:t>
            </a:r>
            <a:br/>
            <a:r>
              <a:t>  "action": "READ",</a:t>
            </a:r>
            <a:br/>
            <a:r>
              <a:t>  "relationship": "DOCTOR",</a:t>
            </a:r>
            <a:br/>
            <a:r>
              <a:t>  "consent": true,</a:t>
            </a:r>
            <a:br/>
            <a:r>
              <a:t>  "outcome": "SUCCESS"</a:t>
            </a:r>
            <a:br/>
            <a: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394960" cy="2011680"/>
          </a:xfrm>
          <a:prstGeom prst="roundRect">
            <a:avLst/>
          </a:prstGeom>
          <a:solidFill>
            <a:srgbClr val="12233A"/>
          </a:solidFill>
          <a:ln w="12700">
            <a:solidFill>
              <a:srgbClr val="26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50292" cy="2011680"/>
          </a:xfrm>
          <a:prstGeom prst="rect">
            <a:avLst/>
          </a:prstGeom>
          <a:solidFill>
            <a:srgbClr val="DA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463039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50" b="1">
                <a:solidFill>
                  <a:srgbClr val="DA5B5B"/>
                </a:solidFill>
                <a:latin typeface="Aptos"/>
              </a:defRPr>
            </a:pPr>
            <a:r>
              <a:t>02 — DOCTOR READ WITHOUT CONSENT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856231"/>
            <a:ext cx="5029200" cy="1371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350" b="0">
                <a:solidFill>
                  <a:srgbClr val="F5F7FA"/>
                </a:solidFill>
                <a:latin typeface="Aptos"/>
              </a:defRPr>
            </a:pPr>
            <a:r>
              <a:t>{</a:t>
            </a:r>
            <a:br/>
            <a:r>
              <a:t>  "action": "READ",</a:t>
            </a:r>
            <a:br/>
            <a:r>
              <a:t>  "relationship": "DOCTOR",</a:t>
            </a:r>
            <a:br/>
            <a:r>
              <a:t>  "consent": false,</a:t>
            </a:r>
            <a:br/>
            <a:r>
              <a:t>  "outcome": "DENIED"</a:t>
            </a:r>
            <a:br/>
            <a: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11880"/>
            <a:ext cx="5394960" cy="2011680"/>
          </a:xfrm>
          <a:prstGeom prst="roundRect">
            <a:avLst/>
          </a:prstGeom>
          <a:solidFill>
            <a:srgbClr val="12233A"/>
          </a:solidFill>
          <a:ln w="12700">
            <a:solidFill>
              <a:srgbClr val="26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611880"/>
            <a:ext cx="50292" cy="2011680"/>
          </a:xfrm>
          <a:prstGeom prst="rect">
            <a:avLst/>
          </a:prstGeom>
          <a:solidFill>
            <a:srgbClr val="52B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749040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50" b="1">
                <a:solidFill>
                  <a:srgbClr val="52B47E"/>
                </a:solidFill>
                <a:latin typeface="Aptos"/>
              </a:defRPr>
            </a:pPr>
            <a:r>
              <a:t>03 — DOCTOR UPDATE WITH CONSENT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4142232"/>
            <a:ext cx="5029200" cy="1371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350" b="0">
                <a:solidFill>
                  <a:srgbClr val="F5F7FA"/>
                </a:solidFill>
                <a:latin typeface="Aptos"/>
              </a:defRPr>
            </a:pPr>
            <a:r>
              <a:t>{</a:t>
            </a:r>
            <a:br/>
            <a:r>
              <a:t>  "action": "UPDATE",</a:t>
            </a:r>
            <a:br/>
            <a:r>
              <a:t>  "relationship": "DOCTOR",</a:t>
            </a:r>
            <a:br/>
            <a:r>
              <a:t>  "consent": true,</a:t>
            </a:r>
            <a:br/>
            <a:r>
              <a:t>  "outcome": "SUCCESS"</a:t>
            </a:r>
            <a:br/>
            <a:r>
              <a:t>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611880"/>
            <a:ext cx="5394960" cy="2011680"/>
          </a:xfrm>
          <a:prstGeom prst="roundRect">
            <a:avLst/>
          </a:prstGeom>
          <a:solidFill>
            <a:srgbClr val="12233A"/>
          </a:solidFill>
          <a:ln w="12700">
            <a:solidFill>
              <a:srgbClr val="26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611880"/>
            <a:ext cx="50292" cy="2011680"/>
          </a:xfrm>
          <a:prstGeom prst="rect">
            <a:avLst/>
          </a:prstGeom>
          <a:solidFill>
            <a:srgbClr val="DA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749040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50" b="1">
                <a:solidFill>
                  <a:srgbClr val="DA5B5B"/>
                </a:solidFill>
                <a:latin typeface="Aptos"/>
              </a:defRPr>
            </a:pPr>
            <a:r>
              <a:t>04 — DOCTOR UPDATE WITHOUT CONSENT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142232"/>
            <a:ext cx="5029200" cy="1371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350" b="0">
                <a:solidFill>
                  <a:srgbClr val="F5F7FA"/>
                </a:solidFill>
                <a:latin typeface="Aptos"/>
              </a:defRPr>
            </a:pPr>
            <a:r>
              <a:t>{</a:t>
            </a:r>
            <a:br/>
            <a:r>
              <a:t>  "action": "UPDATE",</a:t>
            </a:r>
            <a:br/>
            <a:r>
              <a:t>  "relationship": "DOCTOR",</a:t>
            </a:r>
            <a:br/>
            <a:r>
              <a:t>  "consent": false,</a:t>
            </a:r>
            <a:br/>
            <a:r>
              <a:t>  "outcome": "DENIED"</a:t>
            </a:r>
            <a:br/>
            <a:r>
              <a:t>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2B3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6601968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2BECD"/>
                </a:solidFill>
                <a:latin typeface="Aptos"/>
              </a:defRPr>
            </a:pPr>
            <a:r>
              <a:t>SANAD Healthcare • Auditability Exercise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3A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  <a:latin typeface="Aptos Display"/>
              </a:defRPr>
            </a:pPr>
            <a:r>
              <a:t>Testing &amp;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B2BECD"/>
                </a:solidFill>
                <a:latin typeface="Aptos"/>
              </a:defRPr>
            </a:pPr>
            <a:r>
              <a:t>The implementation was verified through API testing and an automated Jest/Supertest suite.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D3AA4C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394960" cy="2148840"/>
          </a:xfrm>
          <a:prstGeom prst="roundRect">
            <a:avLst/>
          </a:prstGeom>
          <a:solidFill>
            <a:srgbClr val="12233A"/>
          </a:solidFill>
          <a:ln w="12700">
            <a:solidFill>
              <a:srgbClr val="26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50292" cy="2148840"/>
          </a:xfrm>
          <a:prstGeom prst="rect">
            <a:avLst/>
          </a:prstGeom>
          <a:solidFill>
            <a:srgbClr val="54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463039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50" b="1">
                <a:solidFill>
                  <a:srgbClr val="5491DC"/>
                </a:solidFill>
                <a:latin typeface="Aptos"/>
              </a:defRPr>
            </a:pPr>
            <a:r>
              <a:t>AUTOMATED TEST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856231"/>
            <a:ext cx="5029200" cy="1508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340" b="0">
                <a:solidFill>
                  <a:srgbClr val="F5F7FA"/>
                </a:solidFill>
                <a:latin typeface="Aptos"/>
              </a:defRPr>
            </a:pPr>
            <a:r>
              <a:t>Patient reads own medical record → SUCCESS</a:t>
            </a:r>
            <a:br/>
            <a:r>
              <a:t>Doctor reads without consent → DENIED</a:t>
            </a:r>
            <a:br/>
            <a:r>
              <a:t>Doctor updates without consent → DENIED</a:t>
            </a:r>
            <a:br/>
            <a:r>
              <a:t>Doctor reads with consent → SUCCESS</a:t>
            </a:r>
            <a:br/>
            <a:r>
              <a:t>Doctor updates with consent → SUCCESS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394960" cy="2148840"/>
          </a:xfrm>
          <a:prstGeom prst="roundRect">
            <a:avLst/>
          </a:prstGeom>
          <a:solidFill>
            <a:srgbClr val="12233A"/>
          </a:solidFill>
          <a:ln w="12700">
            <a:solidFill>
              <a:srgbClr val="26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50292" cy="2148840"/>
          </a:xfrm>
          <a:prstGeom prst="rect">
            <a:avLst/>
          </a:prstGeom>
          <a:solidFill>
            <a:srgbClr val="52B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463039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50" b="1">
                <a:solidFill>
                  <a:srgbClr val="52B47E"/>
                </a:solidFill>
                <a:latin typeface="Aptos"/>
              </a:defRPr>
            </a:pPr>
            <a:r>
              <a:t>FINAL TEST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856231"/>
            <a:ext cx="5029200" cy="1508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350" b="0">
                <a:solidFill>
                  <a:srgbClr val="F5F7FA"/>
                </a:solidFill>
                <a:latin typeface="Aptos"/>
              </a:defRPr>
            </a:pPr>
            <a:r>
              <a:t>PASS  src/tests/audit.test.js</a:t>
            </a:r>
            <a:br/>
            <a:br/>
            <a:r>
              <a:t>Test Suites: 1 passed, 1 total</a:t>
            </a:r>
            <a:br/>
            <a:r>
              <a:t>Tests:       5 passed, 5 total</a:t>
            </a:r>
            <a:br/>
            <a:r>
              <a:t>Snapshots:   0 total</a:t>
            </a:r>
            <a:br/>
            <a:br/>
            <a:r>
              <a:t>The complete automated suite passed successfully.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749039"/>
            <a:ext cx="5394960" cy="2148840"/>
          </a:xfrm>
          <a:prstGeom prst="roundRect">
            <a:avLst/>
          </a:prstGeom>
          <a:solidFill>
            <a:srgbClr val="12233A"/>
          </a:solidFill>
          <a:ln w="12700">
            <a:solidFill>
              <a:srgbClr val="26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749039"/>
            <a:ext cx="50292" cy="2148840"/>
          </a:xfrm>
          <a:prstGeom prst="rect">
            <a:avLst/>
          </a:prstGeom>
          <a:solidFill>
            <a:srgbClr val="D3A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886200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50" b="1">
                <a:solidFill>
                  <a:srgbClr val="D3AA4C"/>
                </a:solidFill>
                <a:latin typeface="Aptos"/>
              </a:defRPr>
            </a:pPr>
            <a:r>
              <a:t>MANUAL API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4279392"/>
            <a:ext cx="5029200" cy="1508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320" b="0">
                <a:solidFill>
                  <a:srgbClr val="F5F7FA"/>
                </a:solidFill>
                <a:latin typeface="Aptos"/>
              </a:defRPr>
            </a:pPr>
            <a:r>
              <a:t>The implementation was also verified through API requests for:</a:t>
            </a:r>
            <a:br/>
            <a:r>
              <a:t>• successful patient access</a:t>
            </a:r>
            <a:br/>
            <a:r>
              <a:t>• successful doctor access with consent</a:t>
            </a:r>
            <a:br/>
            <a:r>
              <a:t>• successful doctor update with consent</a:t>
            </a:r>
            <a:br/>
            <a:r>
              <a:t>• denied doctor access without consent</a:t>
            </a:r>
            <a:br/>
            <a:r>
              <a:t>• denied doctor update without consent</a:t>
            </a:r>
            <a:br/>
            <a:r>
              <a:t>• audit-log retrieval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749039"/>
            <a:ext cx="5394960" cy="2148840"/>
          </a:xfrm>
          <a:prstGeom prst="roundRect">
            <a:avLst/>
          </a:prstGeom>
          <a:solidFill>
            <a:srgbClr val="12233A"/>
          </a:solidFill>
          <a:ln w="12700">
            <a:solidFill>
              <a:srgbClr val="26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749039"/>
            <a:ext cx="50292" cy="2148840"/>
          </a:xfrm>
          <a:prstGeom prst="rect">
            <a:avLst/>
          </a:prstGeom>
          <a:solidFill>
            <a:srgbClr val="54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886200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50" b="1">
                <a:solidFill>
                  <a:srgbClr val="5491DC"/>
                </a:solidFill>
                <a:latin typeface="Aptos"/>
              </a:defRPr>
            </a:pPr>
            <a:r>
              <a:t>EVIDENCE PACKAGE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279392"/>
            <a:ext cx="5029200" cy="1508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320" b="0">
                <a:solidFill>
                  <a:srgbClr val="F5F7FA"/>
                </a:solidFill>
                <a:latin typeface="Aptos"/>
              </a:defRPr>
            </a:pPr>
            <a:r>
              <a:t>Recommended evidence includes:</a:t>
            </a:r>
            <a:br/>
            <a:r>
              <a:t>01 Project structure</a:t>
            </a:r>
            <a:br/>
            <a:r>
              <a:t>02 Audit schema</a:t>
            </a:r>
            <a:br/>
            <a:r>
              <a:t>03 Doctor READ success</a:t>
            </a:r>
            <a:br/>
            <a:r>
              <a:t>04 Doctor UPDATE success</a:t>
            </a:r>
            <a:br/>
            <a:r>
              <a:t>05 Doctor READ denied</a:t>
            </a:r>
            <a:br/>
            <a:r>
              <a:t>06 Doctor UPDATE denied</a:t>
            </a:r>
            <a:br/>
            <a:r>
              <a:t>07 Audit logs</a:t>
            </a:r>
            <a:br/>
            <a:r>
              <a:t>08 Automated tests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2B3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6601968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2BECD"/>
                </a:solidFill>
                <a:latin typeface="Aptos"/>
              </a:defRPr>
            </a:pPr>
            <a:r>
              <a:t>SANAD Healthcare • Auditability Exercise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3A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  <a:latin typeface="Aptos Display"/>
              </a:defRPr>
            </a:pPr>
            <a:r>
              <a:t>Conclusion &amp; Final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B2BECD"/>
                </a:solidFill>
                <a:latin typeface="Aptos"/>
              </a:defRPr>
            </a:pPr>
            <a:r>
              <a:t>A focused, traceable implementation that satisfies the auditability exercise.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84048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D3AA4C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394960" cy="4526280"/>
          </a:xfrm>
          <a:prstGeom prst="roundRect">
            <a:avLst/>
          </a:prstGeom>
          <a:solidFill>
            <a:srgbClr val="12233A"/>
          </a:solidFill>
          <a:ln w="12700">
            <a:solidFill>
              <a:srgbClr val="26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50292" cy="4526280"/>
          </a:xfrm>
          <a:prstGeom prst="rect">
            <a:avLst/>
          </a:prstGeom>
          <a:solidFill>
            <a:srgbClr val="D3A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463039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50" b="1">
                <a:solidFill>
                  <a:srgbClr val="D3AA4C"/>
                </a:solidFill>
                <a:latin typeface="Aptos"/>
              </a:defRPr>
            </a:pPr>
            <a:r>
              <a:t>WHAT WAS DELIVERED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856231"/>
            <a:ext cx="5029200" cy="3886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✓ Structured AuditLog schema</a:t>
            </a:r>
            <a:br/>
            <a:r>
              <a:t>✓ Medical-record READ auditing</a:t>
            </a:r>
            <a:br/>
            <a:r>
              <a:t>✓ Medical-record UPDATE auditing</a:t>
            </a:r>
            <a:br/>
            <a:r>
              <a:t>✓ Patient SELF relationship context</a:t>
            </a:r>
            <a:br/>
            <a:r>
              <a:t>✓ Doctor relationship context</a:t>
            </a:r>
            <a:br/>
            <a:r>
              <a:t>✓ Consent captured in every event</a:t>
            </a:r>
            <a:br/>
            <a:r>
              <a:t>✓ SUCCESS and DENIED outcomes</a:t>
            </a:r>
            <a:br/>
            <a:r>
              <a:t>✓ Audit-log retrieval endpoint</a:t>
            </a:r>
            <a:br/>
            <a:r>
              <a:t>✓ Automated Jest + Supertest tests</a:t>
            </a:r>
            <a:br/>
            <a:r>
              <a:t>✓ README documentation</a:t>
            </a:r>
            <a:br/>
            <a:r>
              <a:t>✓ Manual API verification and evidence 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394960" cy="2194560"/>
          </a:xfrm>
          <a:prstGeom prst="roundRect">
            <a:avLst/>
          </a:prstGeom>
          <a:solidFill>
            <a:srgbClr val="12233A"/>
          </a:solidFill>
          <a:ln w="12700">
            <a:solidFill>
              <a:srgbClr val="26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50292" cy="2194560"/>
          </a:xfrm>
          <a:prstGeom prst="rect">
            <a:avLst/>
          </a:prstGeom>
          <a:solidFill>
            <a:srgbClr val="52B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463039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50" b="1">
                <a:solidFill>
                  <a:srgbClr val="52B47E"/>
                </a:solidFill>
                <a:latin typeface="Aptos"/>
              </a:defRPr>
            </a:pPr>
            <a:r>
              <a:t>FINAL TAKEAWAY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856231"/>
            <a:ext cx="5029200" cy="1554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The implementation does not attempt to build a complete healthcare authorization platform. Instead, it focuses on a small, reviewable auditability layer that makes sensitive medical-record operations traceable and testable.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749039"/>
            <a:ext cx="5394960" cy="2103120"/>
          </a:xfrm>
          <a:prstGeom prst="roundRect">
            <a:avLst/>
          </a:prstGeom>
          <a:solidFill>
            <a:srgbClr val="12233A"/>
          </a:solidFill>
          <a:ln w="12700">
            <a:solidFill>
              <a:srgbClr val="26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749039"/>
            <a:ext cx="50292" cy="2103120"/>
          </a:xfrm>
          <a:prstGeom prst="rect">
            <a:avLst/>
          </a:prstGeom>
          <a:solidFill>
            <a:srgbClr val="54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3886200"/>
            <a:ext cx="5029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50" b="1">
                <a:solidFill>
                  <a:srgbClr val="5491DC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279392"/>
            <a:ext cx="5029200" cy="1463039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defRPr sz="1400" b="0">
                <a:solidFill>
                  <a:srgbClr val="F5F7FA"/>
                </a:solidFill>
                <a:latin typeface="Aptos"/>
              </a:defRPr>
            </a:pPr>
            <a:r>
              <a:t>The final automated test execution passed all 5 auditability scenarios.</a:t>
            </a:r>
            <a:br/>
            <a:br/>
            <a:r>
              <a:t>The resulting audit trail provides a clear explanation of who acted, what happened, what consent context existed, and whether the operation succeeded or was denied.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2B3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6601968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B2BECD"/>
                </a:solidFill>
                <a:latin typeface="Aptos"/>
              </a:defRPr>
            </a:pPr>
            <a:r>
              <a:t>SANAD Healthcare • Auditability Exercise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